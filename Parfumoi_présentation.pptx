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B2D8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9B59B6">
              <a:alpha val="40000"/>
            </a:srgbClr>
          </a:solidFill>
          <a:ln cap="flat" cmpd="sng" w="12700">
            <a:solidFill>
              <a:srgbClr val="9B59B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9B59B6">
              <a:alpha val="30196"/>
            </a:srgbClr>
          </a:solidFill>
          <a:ln cap="flat" cmpd="sng" w="12700">
            <a:solidFill>
              <a:srgbClr val="9B59B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mbria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PARFUMOI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C7FC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E4C7FC"/>
                </a:solidFill>
                <a:latin typeface="Calibri"/>
                <a:ea typeface="Calibri"/>
                <a:cs typeface="Calibri"/>
                <a:sym typeface="Calibri"/>
              </a:rPr>
              <a:t>La marketplace des passionnés de parfums de niche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E4C7FC">
              <a:alpha val="60000"/>
            </a:srgbClr>
          </a:solidFill>
          <a:ln cap="flat" cmpd="sng" w="12700">
            <a:solidFill>
              <a:srgbClr val="E4C7F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C7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4C7FC"/>
                </a:solidFill>
                <a:latin typeface="Calibri"/>
                <a:ea typeface="Calibri"/>
                <a:cs typeface="Calibri"/>
                <a:sym typeface="Calibri"/>
              </a:rPr>
              <a:t>Présenté par Kaoutar Chentouf  • 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74320" y="3657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7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4C7FC"/>
                </a:solidFill>
                <a:latin typeface="Calibri"/>
                <a:ea typeface="Calibri"/>
                <a:cs typeface="Calibri"/>
                <a:sym typeface="Calibri"/>
              </a:rPr>
              <a:t>LE PROBLÈME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274320" y="91440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Sur Vinted, les annonces de parfums se font régulièrement supprimer.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74320" y="2194560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C7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4C7FC"/>
                </a:solidFill>
                <a:latin typeface="Calibri"/>
                <a:ea typeface="Calibri"/>
                <a:cs typeface="Calibri"/>
                <a:sym typeface="Calibri"/>
              </a:rPr>
              <a:t>Il manquait une plateforme 100% dédiée à la revente de parfums entre particuliers.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663440" y="3657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305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2305B"/>
                </a:solidFill>
                <a:latin typeface="Calibri"/>
                <a:ea typeface="Calibri"/>
                <a:cs typeface="Calibri"/>
                <a:sym typeface="Calibri"/>
              </a:rPr>
              <a:t>LA 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663440" y="1005840"/>
            <a:ext cx="4114800" cy="1005840"/>
          </a:xfrm>
          <a:prstGeom prst="roundRect">
            <a:avLst>
              <a:gd fmla="val 7273" name="adj"/>
            </a:avLst>
          </a:prstGeom>
          <a:solidFill>
            <a:srgbClr val="F4EEF8"/>
          </a:solidFill>
          <a:ln cap="flat" cmpd="sng" w="12700">
            <a:solidFill>
              <a:srgbClr val="E4C7F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754880" y="109728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305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2305B"/>
                </a:solidFill>
                <a:latin typeface="Calibri"/>
                <a:ea typeface="Calibri"/>
                <a:cs typeface="Calibri"/>
                <a:sym typeface="Calibri"/>
              </a:rPr>
              <a:t>🔍  Recherche par famille olfactive, marque et catégorie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663440" y="2194560"/>
            <a:ext cx="4114800" cy="1005840"/>
          </a:xfrm>
          <a:prstGeom prst="roundRect">
            <a:avLst>
              <a:gd fmla="val 7273" name="adj"/>
            </a:avLst>
          </a:prstGeom>
          <a:solidFill>
            <a:srgbClr val="F4EEF8"/>
          </a:solidFill>
          <a:ln cap="flat" cmpd="sng" w="12700">
            <a:solidFill>
              <a:srgbClr val="E4C7F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754880" y="228600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305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2305B"/>
                </a:solidFill>
                <a:latin typeface="Calibri"/>
                <a:ea typeface="Calibri"/>
                <a:cs typeface="Calibri"/>
                <a:sym typeface="Calibri"/>
              </a:rPr>
              <a:t>🔒  Vérification anti-contrefaçon via batch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663440" y="3383280"/>
            <a:ext cx="4114800" cy="1005840"/>
          </a:xfrm>
          <a:prstGeom prst="roundRect">
            <a:avLst>
              <a:gd fmla="val 7273" name="adj"/>
            </a:avLst>
          </a:prstGeom>
          <a:solidFill>
            <a:srgbClr val="F4EEF8"/>
          </a:solidFill>
          <a:ln cap="flat" cmpd="sng" w="12700">
            <a:solidFill>
              <a:srgbClr val="E4C7F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754880" y="347472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305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2305B"/>
                </a:solidFill>
                <a:latin typeface="Calibri"/>
                <a:ea typeface="Calibri"/>
                <a:cs typeface="Calibri"/>
                <a:sym typeface="Calibri"/>
              </a:rPr>
              <a:t>🤝  Échanges en main propre uniquement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EF8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305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52305B"/>
                </a:solidFill>
                <a:latin typeface="Cambria"/>
                <a:ea typeface="Cambria"/>
                <a:cs typeface="Cambria"/>
                <a:sym typeface="Cambria"/>
              </a:rPr>
              <a:t>LE SITE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home2_crop.png" id="44" name="Google Shape;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777240"/>
            <a:ext cx="420624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atalogue_crop.png" id="45" name="Google Shape;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777240"/>
            <a:ext cx="420624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305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305B"/>
                </a:solidFill>
                <a:latin typeface="Calibri"/>
                <a:ea typeface="Calibri"/>
                <a:cs typeface="Calibri"/>
                <a:sym typeface="Calibri"/>
              </a:rPr>
              <a:t>Homepage  •  Barre de recherche  •  Catalogue filtrable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PARCOURS UTILISATEUR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B2D8B"/>
                </a:solidFill>
                <a:latin typeface="Calibri"/>
                <a:ea typeface="Calibri"/>
                <a:cs typeface="Calibri"/>
                <a:sym typeface="Calibri"/>
              </a:rPr>
              <a:t>FICHE PRODUIT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duct_crop.png" id="55" name="Google Shape;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234440"/>
            <a:ext cx="41148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B2D8B"/>
                </a:solidFill>
                <a:latin typeface="Calibri"/>
                <a:ea typeface="Calibri"/>
                <a:cs typeface="Calibri"/>
                <a:sym typeface="Calibri"/>
              </a:rPr>
              <a:t>MON COMPTE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ncompte_crop.png" id="57" name="Google Shape;5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234440"/>
            <a:ext cx="41148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Batch code  •  Infos vendeur  •  Favoris  •  Mes annonces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B59B6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305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52305B"/>
                </a:solidFill>
                <a:latin typeface="Cambria"/>
                <a:ea typeface="Cambria"/>
                <a:cs typeface="Cambria"/>
                <a:sym typeface="Cambria"/>
              </a:rPr>
              <a:t>INTERFACE ADMIN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274320" y="914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B2D8B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parfumoi_com_add_8888_admin_home_Asus_Zenbook_Fold_.png"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234440"/>
            <a:ext cx="27432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/>
          <p:nvPr/>
        </p:nvSpPr>
        <p:spPr>
          <a:xfrm>
            <a:off x="3200400" y="9144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B2D8B"/>
                </a:solidFill>
                <a:latin typeface="Calibri"/>
                <a:ea typeface="Calibri"/>
                <a:cs typeface="Calibri"/>
                <a:sym typeface="Calibri"/>
              </a:rPr>
              <a:t>ANNONCES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parfumoi_com_add_8888_admin_items_draft_Asus_Zenbook_Fold_.png" id="68" name="Google Shape;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0" y="1234440"/>
            <a:ext cx="283464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7"/>
          <p:cNvSpPr/>
          <p:nvPr/>
        </p:nvSpPr>
        <p:spPr>
          <a:xfrm>
            <a:off x="6217920" y="9144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B2D8B"/>
                </a:solidFill>
                <a:latin typeface="Calibri"/>
                <a:ea typeface="Calibri"/>
                <a:cs typeface="Calibri"/>
                <a:sym typeface="Calibri"/>
              </a:rPr>
              <a:t>OPÉRATEURS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parfumoi_com_add_8888_admin_operators_show_18_Asus_Zenbook_Fold_.png" id="70" name="Google Shape;7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0" y="1234440"/>
            <a:ext cx="265176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305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305B"/>
                </a:solidFill>
                <a:latin typeface="Calibri"/>
                <a:ea typeface="Calibri"/>
                <a:cs typeface="Calibri"/>
                <a:sym typeface="Calibri"/>
              </a:rPr>
              <a:t>Statistiques  •  Validation d'annonces  •  Gestion utilisateurs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EF8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/>
          <p:nvPr/>
        </p:nvSpPr>
        <p:spPr>
          <a:xfrm>
            <a:off x="2743200" y="731520"/>
            <a:ext cx="3657600" cy="3657600"/>
          </a:xfrm>
          <a:prstGeom prst="ellipse">
            <a:avLst/>
          </a:prstGeom>
          <a:solidFill>
            <a:srgbClr val="E4C7FC">
              <a:alpha val="50196"/>
            </a:srgbClr>
          </a:solidFill>
          <a:ln cap="flat" cmpd="sng" w="12700">
            <a:solidFill>
              <a:srgbClr val="E4C7F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8"/>
          <p:cNvSpPr/>
          <p:nvPr/>
        </p:nvSpPr>
        <p:spPr>
          <a:xfrm>
            <a:off x="2743200" y="731520"/>
            <a:ext cx="3657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7200"/>
              <a:buFont typeface="Calibri"/>
              <a:buNone/>
            </a:pPr>
            <a:r>
              <a:rPr b="0" i="0" lang="en-US" sz="7200" u="none" cap="none" strike="noStrike">
                <a:solidFill>
                  <a:srgbClr val="7B2D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305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52305B"/>
                </a:solidFill>
                <a:latin typeface="Cambria"/>
                <a:ea typeface="Cambria"/>
                <a:cs typeface="Cambria"/>
                <a:sym typeface="Cambria"/>
              </a:rPr>
              <a:t>DÉMONSTRATION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B2D8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ET POUR LA SUITE...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457200" y="1005840"/>
            <a:ext cx="8229600" cy="713232"/>
          </a:xfrm>
          <a:prstGeom prst="roundRect">
            <a:avLst>
              <a:gd fmla="val 10256" name="adj"/>
            </a:avLst>
          </a:prstGeom>
          <a:solidFill>
            <a:srgbClr val="9B59B6">
              <a:alpha val="60000"/>
            </a:srgbClr>
          </a:solidFill>
          <a:ln cap="flat" cmpd="sng" w="12700">
            <a:solidFill>
              <a:srgbClr val="E4C7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"/>
          <p:cNvSpPr/>
          <p:nvPr/>
        </p:nvSpPr>
        <p:spPr>
          <a:xfrm>
            <a:off x="640080" y="1051560"/>
            <a:ext cx="7863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Modifier une annonce côté utilisateur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457200" y="1847088"/>
            <a:ext cx="8229600" cy="713232"/>
          </a:xfrm>
          <a:prstGeom prst="roundRect">
            <a:avLst>
              <a:gd fmla="val 10256" name="adj"/>
            </a:avLst>
          </a:prstGeom>
          <a:solidFill>
            <a:srgbClr val="9B59B6">
              <a:alpha val="60000"/>
            </a:srgbClr>
          </a:solidFill>
          <a:ln cap="flat" cmpd="sng" w="12700">
            <a:solidFill>
              <a:srgbClr val="E4C7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9"/>
          <p:cNvSpPr/>
          <p:nvPr/>
        </p:nvSpPr>
        <p:spPr>
          <a:xfrm>
            <a:off x="640080" y="1892808"/>
            <a:ext cx="7863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💬  Messagerie intégrée entre acheteur et vendeur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457200" y="2688336"/>
            <a:ext cx="8229600" cy="713232"/>
          </a:xfrm>
          <a:prstGeom prst="roundRect">
            <a:avLst>
              <a:gd fmla="val 10256" name="adj"/>
            </a:avLst>
          </a:prstGeom>
          <a:solidFill>
            <a:srgbClr val="9B59B6">
              <a:alpha val="60000"/>
            </a:srgbClr>
          </a:solidFill>
          <a:ln cap="flat" cmpd="sng" w="12700">
            <a:solidFill>
              <a:srgbClr val="E4C7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9"/>
          <p:cNvSpPr/>
          <p:nvPr/>
        </p:nvSpPr>
        <p:spPr>
          <a:xfrm>
            <a:off x="640080" y="2734056"/>
            <a:ext cx="7863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⭐  Système de notation des vendeurs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457200" y="3529584"/>
            <a:ext cx="8229600" cy="713232"/>
          </a:xfrm>
          <a:prstGeom prst="roundRect">
            <a:avLst>
              <a:gd fmla="val 10256" name="adj"/>
            </a:avLst>
          </a:prstGeom>
          <a:solidFill>
            <a:srgbClr val="9B59B6">
              <a:alpha val="60000"/>
            </a:srgbClr>
          </a:solidFill>
          <a:ln cap="flat" cmpd="sng" w="12700">
            <a:solidFill>
              <a:srgbClr val="E4C7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"/>
          <p:cNvSpPr/>
          <p:nvPr/>
        </p:nvSpPr>
        <p:spPr>
          <a:xfrm>
            <a:off x="640080" y="3575304"/>
            <a:ext cx="7863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🔔  Notification mail lors d'un refus d'annonce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C7F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E4C7FC"/>
                </a:solidFill>
                <a:latin typeface="Calibri"/>
                <a:ea typeface="Calibri"/>
                <a:cs typeface="Calibri"/>
                <a:sym typeface="Calibri"/>
              </a:rPr>
              <a:t>Un projet né d'un besoin réel — fonctionnel, responsive et prêt à évoluer.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B2D8B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9B59B6">
              <a:alpha val="40000"/>
            </a:srgbClr>
          </a:solidFill>
          <a:ln cap="flat" cmpd="sng" w="12700">
            <a:solidFill>
              <a:srgbClr val="9B59B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9B59B6">
              <a:alpha val="30196"/>
            </a:srgbClr>
          </a:solidFill>
          <a:ln cap="flat" cmpd="sng" w="12700">
            <a:solidFill>
              <a:srgbClr val="9B59B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mbria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MERCI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3200400" y="1645920"/>
            <a:ext cx="2743200" cy="36576"/>
          </a:xfrm>
          <a:prstGeom prst="rect">
            <a:avLst/>
          </a:prstGeom>
          <a:solidFill>
            <a:srgbClr val="E4C7FC">
              <a:alpha val="60000"/>
            </a:srgbClr>
          </a:solidFill>
          <a:ln cap="flat" cmpd="sng" w="12700">
            <a:solidFill>
              <a:srgbClr val="E4C7F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0"/>
          <p:cNvSpPr/>
          <p:nvPr/>
        </p:nvSpPr>
        <p:spPr>
          <a:xfrm>
            <a:off x="914400" y="1920240"/>
            <a:ext cx="7315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C7FC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E4C7FC"/>
                </a:solidFill>
                <a:latin typeface="Calibri"/>
                <a:ea typeface="Calibri"/>
                <a:cs typeface="Calibri"/>
                <a:sym typeface="Calibri"/>
              </a:rPr>
              <a:t>Un grand merci à mon professeur principal Sammy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C7FC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E4C7FC"/>
                </a:solidFill>
                <a:latin typeface="Calibri"/>
                <a:ea typeface="Calibri"/>
                <a:cs typeface="Calibri"/>
                <a:sym typeface="Calibri"/>
              </a:rPr>
              <a:t>pour son écoute, sa pédagogie, sa gentillesse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C7FC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E4C7FC"/>
                </a:solidFill>
                <a:latin typeface="Calibri"/>
                <a:ea typeface="Calibri"/>
                <a:cs typeface="Calibri"/>
                <a:sym typeface="Calibri"/>
              </a:rPr>
              <a:t>et sa disponibilité tout au long de ce projet.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914400" y="356616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Merci également à Vincenzo Girardi,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 professeur d'anglais, pour son accompagnement.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C7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4C7FC"/>
                </a:solidFill>
                <a:latin typeface="Calibri"/>
                <a:ea typeface="Calibri"/>
                <a:cs typeface="Calibri"/>
                <a:sym typeface="Calibri"/>
              </a:rPr>
              <a:t>Kaoutar Chentouf  • 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